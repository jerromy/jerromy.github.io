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970" cy="6858000"/>
  <p:notesSz cx="6858000" cy="12191970"/>
  <p:embeddedFontLst>
    <p:embeddedFont>
      <p:font typeface="Hanken Grotesk" pitchFamily="34" charset="0"/>
      <p:regular r:id="rIdFont1"/>
    </p:embeddedFont>
    <p:embeddedFont>
      <p:font typeface="Hanken Grotesk Light" pitchFamily="34" charset="0"/>
      <p:regular r:id="rIdFont2"/>
    </p:embeddedFont>
    <p:embeddedFont>
      <p:font typeface="Space Mono" panose="02010509030202000204" pitchFamily="34" charset="0"/>
      <p:regular r:id="rIdFont3"/>
    </p:embeddedFont>
    <p:embeddedFont>
      <p:font typeface="Noto Sans TC" panose="020B0200000000000000" pitchFamily="34" charset="-120"/>
      <p:regular r:id="rIdFont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moshop.com.tw/product/15088209" TargetMode="External"/><Relationship Id="rId1" Type="http://schemas.openxmlformats.org/officeDocument/2006/relationships/image" Target="../media/Slide-18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moshop.com.tw/product/10547473" TargetMode="External"/><Relationship Id="rId1" Type="http://schemas.openxmlformats.org/officeDocument/2006/relationships/image" Target="../media/Slide-19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moshop.com.tw/product/15473809" TargetMode="External"/><Relationship Id="rId1" Type="http://schemas.openxmlformats.org/officeDocument/2006/relationships/image" Target="../media/Slide-20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moshop.com.tw/product/9718118" TargetMode="External"/><Relationship Id="rId1" Type="http://schemas.openxmlformats.org/officeDocument/2006/relationships/image" Target="../media/Slide-21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moshop.com.tw/product/12607881" TargetMode="External"/><Relationship Id="rId1" Type="http://schemas.openxmlformats.org/officeDocument/2006/relationships/image" Target="../media/Slide-22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moshop.com.tw/product/9187412" TargetMode="External"/><Relationship Id="rId1" Type="http://schemas.openxmlformats.org/officeDocument/2006/relationships/image" Target="../media/Slide-23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1464503"/>
            <a:ext cx="283930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825" spc="181" dirty="0">
                <a:solidFill>
                  <a:srgbClr val="C8F250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2735428"/>
            <a:ext cx="3830056" cy="314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-17" dirty="0">
                <a:solidFill>
                  <a:srgbClr val="AEB4C7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Light Up the DNA of the Future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4126139"/>
            <a:ext cx="2215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58" dirty="0">
                <a:solidFill>
                  <a:srgbClr val="F4F6FB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需求規格</a:t>
            </a:r>
            <a:pPr algn="l" indent="0" marL="0">
              <a:buNone/>
            </a:pPr>
            <a:r>
              <a:rPr lang="en-US" sz="975" spc="58" dirty="0">
                <a:solidFill>
                  <a:srgbClr val="F4F6F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 · </a:t>
            </a:r>
            <a:pPr algn="l" indent="0" marL="0">
              <a:buNone/>
            </a:pPr>
            <a:r>
              <a:rPr lang="en-US" sz="975" spc="58" dirty="0">
                <a:solidFill>
                  <a:srgbClr val="F4F6FB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草稿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914400" y="6072165"/>
            <a:ext cx="401275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65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2026-09-28 · </a:t>
            </a:r>
            <a:pPr algn="l" indent="0" marL="0">
              <a:buNone/>
            </a:pPr>
            <a:r>
              <a:rPr lang="en-US" sz="825" spc="165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互動名稱與示意圖標題皆為暫定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66867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§1 · OVERVIEW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專案概述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1094463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一個簽名，一顆球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—— </a:t>
            </a:r>
            <a:pPr algn="l" indent="0" marL="0">
              <a:buNone/>
            </a:pPr>
            <a:r>
              <a:rPr lang="en-US" sz="2850" spc="-29" dirty="0">
                <a:solidFill>
                  <a:srgbClr val="F4A6C8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一批球一起點亮一座</a:t>
            </a:r>
            <a:pPr algn="l" indent="0" marL="0">
              <a:buNone/>
            </a:pPr>
            <a:r>
              <a:rPr lang="en-US" sz="2850" spc="-29" dirty="0">
                <a:solidFill>
                  <a:srgbClr val="F4A6C8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DNA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/ 23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31946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§2 · FLOW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體驗流程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351166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使用者遊玩流程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/ 23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621585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§8 · SKETCH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示意圖說明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501667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兩張示意圖，各取一半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/ 23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79056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§8 · DIRECTION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最終方向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95624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最終方向：</a:t>
            </a:r>
            <a:pPr algn="l" indent="0" marL="0">
              <a:buNone/>
            </a:pPr>
            <a:r>
              <a:rPr lang="en-US" sz="2850" spc="-29" dirty="0">
                <a:solidFill>
                  <a:srgbClr val="C8F250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圖一的牆面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× </a:t>
            </a:r>
            <a:pPr algn="l" indent="0" marL="0">
              <a:buNone/>
            </a:pPr>
            <a:r>
              <a:rPr lang="en-US" sz="2850" spc="-29" dirty="0">
                <a:solidFill>
                  <a:srgbClr val="F4A6C8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圖二的雕塑與地面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/ 23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410026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§3 · HARDWARE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硬體架構（不含實體雕塑）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255373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硬體架構圖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/ 23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38437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§3 · HARDWARE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硬體需求（概要）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2572664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硬體規格明細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92448"/>
            <a:ext cx="880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以下是軟體運作需要的硬體條件。軟體端只負責軟體開發，實際採購與施作由硬體及雕塑廠商負責。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/ 23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392698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§3 · PROCUREMENT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建議採購清單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2572664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建議採購清單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92448"/>
            <a:ext cx="10611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價格為</a:t>
            </a:r>
            <a:pPr algn="l" indent="0" marL="0">
              <a:buNone/>
            </a:pPr>
            <a:r>
              <a:rPr lang="en-US" sz="1125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2026-09-28 momo </a:t>
            </a:r>
            <a:pPr algn="l" indent="0" marL="0">
              <a:buNone/>
            </a:pPr>
            <a:r>
              <a:rPr lang="en-US" sz="1125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商品頁價格（部分為限時折後價，會變動）；點卡片開啟商品頁，附錄</a:t>
            </a:r>
            <a:pPr algn="l" indent="0" marL="0">
              <a:buNone/>
            </a:pPr>
            <a:r>
              <a:rPr lang="en-US" sz="1125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A1–A6 </a:t>
            </a:r>
            <a:pPr algn="l" indent="0" marL="0">
              <a:buNone/>
            </a:pPr>
            <a:r>
              <a:rPr lang="en-US" sz="1125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有商品頁截圖。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/ 23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872575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§4 · ARCHITECTURE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系統架構與訊息流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3379805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一批球的訊息時序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/ 23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453152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§5.1 · KIOSK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簽名端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60201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簽名端：選色、簽名、送出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/ 23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156875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§5.2 · PROJECTION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投影畫面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85285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投影畫面：牆面＋地面是</a:t>
            </a:r>
            <a:pPr algn="l" indent="0" marL="0">
              <a:buNone/>
            </a:pPr>
            <a:r>
              <a:rPr lang="en-US" sz="2850" spc="-29" dirty="0">
                <a:solidFill>
                  <a:srgbClr val="C8F250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一個連續畫面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/ 23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473512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§5.3 · SCULPTURE LIGHT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實體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DNA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雕塑燈光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85285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雕塑燈光：依這一批球的</a:t>
            </a:r>
            <a:pPr algn="l" indent="0" marL="0">
              <a:buNone/>
            </a:pPr>
            <a:r>
              <a:rPr lang="en-US" sz="2850" spc="-29" dirty="0">
                <a:solidFill>
                  <a:srgbClr val="F4A6C8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顏色比例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閃爍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/ 23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31946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§6 · MQTT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通訊規格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53058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MQTT 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通訊：四個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Topic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 / 23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2580985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§6 · PAYLOAD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訊息格式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425698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訊息格式（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JSON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）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 / 23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08354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§7 · ON-SITE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現場施工與校正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55184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現場施工與校正注意事項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 / 23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03471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§9 · SUGGESTIONS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其他建議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551858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兩個建議，</a:t>
            </a:r>
            <a:pPr algn="l" indent="0" marL="0">
              <a:buNone/>
            </a:pPr>
            <a:r>
              <a:rPr lang="en-US" sz="2850" spc="-29" dirty="0">
                <a:solidFill>
                  <a:srgbClr val="B3A5E0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尚未確認採用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 / 23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2137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§10 · OPEN ITEMS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待確認事項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04890"/>
            <a:ext cx="304952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待確認事項</a:t>
            </a:r>
            <a:pPr algn="l" indent="0" marL="0">
              <a:buNone/>
            </a:pPr>
            <a:r>
              <a:rPr lang="en-US" sz="2850" spc="-29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</a:t>
            </a:r>
            <a:pPr algn="l" indent="0" marL="0">
              <a:buNone/>
            </a:pPr>
            <a:r>
              <a:rPr lang="en-US" sz="1950" spc="-29" dirty="0">
                <a:solidFill>
                  <a:srgbClr val="E9C68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 / 23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69353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A1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商品頁截圖（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MOMO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791292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投影主機｜技嘉平台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R5-7500F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／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RTX 5060 Ti 8G 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電競電腦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753130"/>
            <a:ext cx="8116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商品連結：</a:t>
            </a:r>
            <a:pPr algn="l" indent="0" marL="0">
              <a:buNone/>
            </a:pPr>
            <a:r>
              <a:rPr lang="en-US" sz="975" u="sng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https://www.momoshop.com.tw/product/15088209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截圖與價格：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 / 23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69353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A2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商品頁截圖（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MOMO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9409085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作業系統｜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Microsoft Windows 11 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專業版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USB 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盒裝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753130"/>
            <a:ext cx="8116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商品連結：</a:t>
            </a:r>
            <a:pPr algn="l" indent="0" marL="0">
              <a:buNone/>
            </a:pPr>
            <a:r>
              <a:rPr lang="en-US" sz="975" u="sng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https://www.momoshop.com.tw/product/10547473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截圖與價格：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19 / 23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69353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A3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商品頁截圖（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MOMO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12014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簽名端主機｜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ASUS NUC 14 Pro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（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Ultra 5 125H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／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16G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／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512G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753130"/>
            <a:ext cx="8116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商品連結：</a:t>
            </a:r>
            <a:pPr algn="l" indent="0" marL="0">
              <a:buNone/>
            </a:pPr>
            <a:r>
              <a:rPr lang="en-US" sz="975" u="sng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https://www.momoshop.com.tw/product/15473809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截圖與價格：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 / 23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69353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A4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商品頁截圖（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MOMO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8780892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路由器｜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ASUS RT-AX1800S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（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Wi-Fi 6 AX1800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753130"/>
            <a:ext cx="8009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商品連結：</a:t>
            </a:r>
            <a:pPr algn="l" indent="0" marL="0">
              <a:buNone/>
            </a:pPr>
            <a:r>
              <a:rPr lang="en-US" sz="975" u="sng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https://www.momoshop.com.tw/product/9718118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截圖與價格：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21 / 23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69353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A5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商品頁截圖（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MOMO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8444393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網路線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× 5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｜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PX 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大通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CAT8 SFTP 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網路線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 10 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753130"/>
            <a:ext cx="8116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商品連結：</a:t>
            </a:r>
            <a:pPr algn="l" indent="0" marL="0">
              <a:buNone/>
            </a:pPr>
            <a:r>
              <a:rPr lang="en-US" sz="975" u="sng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https://www.momoshop.com.tw/product/12607881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截圖與價格：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 / 23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8160"/>
            <a:ext cx="3693536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A6 · 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商品頁截圖（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MOMO</a:t>
            </a:r>
            <a:pPr algn="l" indent="0" marL="0">
              <a:buNone/>
            </a:pPr>
            <a:r>
              <a:rPr lang="en-US" sz="825" spc="181" dirty="0">
                <a:solidFill>
                  <a:srgbClr val="6B7186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）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830641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UPS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Noto Sans TC" pitchFamily="34" charset="-122"/>
                <a:cs typeface="Hanken Grotesk Light" pitchFamily="34" charset="-120"/>
              </a:rPr>
              <a:t>｜</a:t>
            </a:r>
            <a:pPr algn="l" indent="0" marL="0">
              <a:buNone/>
            </a:pPr>
            <a:r>
              <a:rPr lang="en-US" sz="2400" spc="-24" dirty="0">
                <a:solidFill>
                  <a:srgbClr val="F4F6F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CyberPower CP1500PFCLCDa 1500VA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753130"/>
            <a:ext cx="8009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商品連結：</a:t>
            </a:r>
            <a:pPr algn="l" indent="0" marL="0">
              <a:buNone/>
            </a:pPr>
            <a:r>
              <a:rPr lang="en-US" sz="975" u="sng" dirty="0">
                <a:solidFill>
                  <a:srgbClr val="C8F2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https://www.momoshop.com.tw/product/9187412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Noto Sans TC" pitchFamily="34" charset="-122"/>
                <a:cs typeface="Hanken Grotesk" pitchFamily="34" charset="-120"/>
              </a:rPr>
              <a:t>截圖與價格：</a:t>
            </a:r>
            <a:pPr algn="l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2026-09-28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6448440"/>
            <a:ext cx="3400014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 DNA · 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Noto Sans TC" pitchFamily="34" charset="-122"/>
                <a:cs typeface="Space Mono" pitchFamily="34" charset="-120"/>
              </a:rPr>
              <a:t>簽名球互動系統需求規格</a:t>
            </a:r>
            <a:pPr algn="l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v0.5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27402" y="6448440"/>
            <a:ext cx="125016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90" dirty="0">
                <a:solidFill>
                  <a:srgbClr val="444A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23 / 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DNA · 簽名球互動系統需求規格</dc:title>
  <dc:subject>PptxGenJS Presentation</dc:subject>
  <dc:creator>Future DNA</dc:creator>
  <cp:lastModifiedBy>Future DNA</cp:lastModifiedBy>
  <cp:revision>1</cp:revision>
  <dcterms:created xsi:type="dcterms:W3CDTF">2026-09-28T14:22:08Z</dcterms:created>
  <dcterms:modified xsi:type="dcterms:W3CDTF">2026-09-28T14:22:08Z</dcterms:modified>
</cp:coreProperties>
</file>